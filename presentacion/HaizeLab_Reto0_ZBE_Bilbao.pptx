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teamiento" id="{d59dd1d4-d4a9-a052-d8c9-609cd757b8ea}">
          <p14:sldIdLst>
            <p14:sldId id="256"/>
            <p14:sldId id="257"/>
          </p14:sldIdLst>
        </p14:section>
        <p14:section name="Método y datos" id="{71bb9033-a8ac-44b1-8d2f-856c9599cd8e}">
          <p14:sldIdLst>
            <p14:sldId id="258"/>
            <p14:sldId id="259"/>
            <p14:sldId id="260"/>
          </p14:sldIdLst>
        </p14:section>
        <p14:section name="Resultado" id="{e27998a6-d100-1504-07ec-f540732bbf0d}">
          <p14:sldIdLst>
            <p14:sldId id="261"/>
            <p14:sldId id="262"/>
          </p14:sldIdLst>
        </p14:section>
        <p14:section name="Infraestructura" id="{15ab5eef-10cb-4ab4-39e3-ab1464ebffcb}">
          <p14:sldIdLst>
            <p14:sldId id="263"/>
            <p14:sldId id="264"/>
            <p14:sldId id="265"/>
            <p14:sldId id="266"/>
          </p14:sldIdLst>
        </p14:section>
        <p14:section name="Modelos de IA" id="{52858a9e-16f1-679f-9f50-c5621a5cfd30}">
          <p14:sldIdLst>
            <p14:sldId id="267"/>
          </p14:sldIdLst>
        </p14:section>
        <p14:section name="Equipo y cierre" id="{9ddd7742-1b2f-9a34-8746-e65e43ca33a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Dentro de la ZBE</c:v>
                </c:pt>
              </c:strCache>
            </c:strRef>
          </c:tx>
          <c:spPr>
            <a:solidFill>
              <a:srgbClr val="1D4ED8"/>
            </a:solidFill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25.85</c:v>
                </c:pt>
                <c:pt idx="1">
                  <c:v>25.95</c:v>
                </c:pt>
                <c:pt idx="2">
                  <c:v>23.12</c:v>
                </c:pt>
                <c:pt idx="3">
                  <c:v>22.22</c:v>
                </c:pt>
                <c:pt idx="4">
                  <c:v>21.03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Fuera (control)</c:v>
                </c:pt>
              </c:strCache>
            </c:strRef>
          </c:tx>
          <c:spPr>
            <a:solidFill>
              <a:srgbClr val="E8833A"/>
            </a:solidFill>
            <a:ln w="38100" cap="flat">
              <a:solidFill>
                <a:srgbClr val="E8833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833A"/>
              </a:solidFill>
              <a:ln w="9525" cap="flat">
                <a:solidFill>
                  <a:srgbClr val="E883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19.09</c:v>
                </c:pt>
                <c:pt idx="1">
                  <c:v>17.95</c:v>
                </c:pt>
                <c:pt idx="2">
                  <c:v>16.98</c:v>
                </c:pt>
                <c:pt idx="3">
                  <c:v>16.56</c:v>
                </c:pt>
                <c:pt idx="4">
                  <c:v>15.5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111827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1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118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Bajada de NO₂ (µg/m³)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&quot;−&quot;0.0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3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182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Baja dentro</c:v>
                  </c:pt>
                  <c:pt idx="1">
                    <c:v>Baja fuera</c:v>
                  </c:pt>
                  <c:pt idx="2">
                    <c:v>Efecto ZBE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3.59</c:v>
                </c:pt>
                <c:pt idx="1">
                  <c:v>1.96</c:v>
                </c:pt>
                <c:pt idx="2">
                  <c:v>1.63</c:v>
                </c:pt>
              </c:numCache>
            </c:numRef>
          </c:val>
        </c:ser>
        <c:dLbls>
          <c:numFmt formatCode="&quot;−&quot;0.00" sourceLinked="0"/>
          <c:txPr>
            <a:bodyPr/>
            <a:lstStyle/>
            <a:p>
              <a:pPr>
                <a:defRPr b="1" i="0" strike="noStrike" sz="20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validación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Sin IA (media)</c:v>
                  </c:pt>
                  <c:pt idx="1">
                    <c:v>Regresión lineal</c:v>
                  </c:pt>
                  <c:pt idx="2">
                    <c:v>Gradient Boosting</c:v>
                  </c:pt>
                  <c:pt idx="3">
                    <c:v>Random Forest 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9.79</c:v>
                </c:pt>
                <c:pt idx="2">
                  <c:v>8.15</c:v>
                </c:pt>
                <c:pt idx="3">
                  <c:v>8.14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8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HaizeLab. El Ayuntamiento nos pregunta si la ZBE ha funcionado. Respondemos con datos horarios de 2022 a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ZBE entró en dos fases. Solo actúa de lunes a viernes de 7 a 20 h. Medimos NO2 porque es el contaminante del diésel: si la ZBE funciona, es el primero que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fuentes cruzadas por estación y hora. 332.619 filas sin duplicados y 96,7 % de completitud de NO2. La limpieza no cambia las medias: menos de 0,03 µg/m3 por estación.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Fuera de la zona también baja: coches nuevos y tiempo en toda la comarca. Por eso no basta con comparar antes y después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estaciones dentro, cinco de control fuera y una de fondo que no entra en la cuenta. El efecto es lo que baja dentro menos lo que baja fuera (diferencias en diferencias).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baja 3,59; fuera 1,96. La diferencia, 1,63, es lo que añade la ZBE: un 6 % del nivel inicial. El intervalo del 95 % va de -2,38 a -0,94, no toca el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Horario: el efecto es mayor con la norma activa. Calma: también sale sin viento. SO2: un gas que no es del tráfico no baja, así que el método no inventa bajadas. Fase 2: no se distingue 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Node-RED recoge en vivo y escribe en InfluxDB con su token. pandas carga el histórico con otro token. Grafana y el MCP solo leen. Todo arranca con docker compose: 7 contenedores, puertos solo en 127.0.0.1.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buckets con caducidad: aire y meteo no caducan, trafico 30 días, aire_demo 7 días. Cuatro tokens separados: dos escriben (Node-RED y pandas) y dos solo leen (Grafana y MCP). Node-RED tiene tres flujos que consultan, ordenan y escriben; cada uno con su nodo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del sistema funcionando: los tres flujos de Node-RED con su catch de errores y el Data Explorer de InfluxDB con el NO2 de estaciones dentro y fuera de la ZBE en el bucket 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equipos con permisos por carpeta. Tres alertas: límite horario UE de 200, guía diaria OMS de 25 y ocupación de tráfico. Demo: en la versión web el panel es en directo; aquí, captura. Los relojes reproducen el histórico, una hora cada 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entrenado solo con 2022 y 2023 y validado con 2024 antes de la ZBE. MAE 8,14 frente a 10,50 sin IA. Efecto con el modelo: -0,49. Placebo en 2023: +0,33, incluye el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rama por tarea, pull request revisada por otro compañero, integración en develop y a main solo lo estable. Tres sprints con Scrum Master rotatorio.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Conclusión: la señal es favorable pero pequeña. Mantener la ZBE y su horario, medir en el borde antes de ampliar y repetir la evaluación cada año. Límites: dos estaciones dentro, otros cambios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90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HAIZELAB · PARA EL AYUNTAMIENTO DE BILBAO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2286000"/>
            <a:ext cx="952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¿Funciona la Zona de Bajas Emisiones?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46990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Lo que dicen cuatro años de datos del aire del centro de Bilbao.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5397500"/>
            <a:ext cx="952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Iñigo · Kerman · Alfred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   22 de octubre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LA DECISIÓN DEL AYUNTAMIENTO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¿Ampliar, mantener o cambiar la ZBE?</a:t>
            </a:r>
            <a:endParaRPr lang="en-US" sz="3600" dirty="0"/>
          </a:p>
        </p:txBody>
      </p:sp>
      <p:sp>
        <p:nvSpPr>
          <p:cNvPr id="5" name="Tarjeta"/>
          <p:cNvSpPr/>
          <p:nvPr/>
        </p:nvSpPr>
        <p:spPr>
          <a:xfrm>
            <a:off x="762000" y="1778000"/>
            <a:ext cx="3384550" cy="1397000"/>
          </a:xfrm>
          <a:prstGeom prst="roundRect">
            <a:avLst>
              <a:gd name="adj" fmla="val 11127"/>
            </a:avLst>
          </a:prstGeom>
          <a:solidFill>
            <a:schemeClr val="bg2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19685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15 jun 2024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Fase 1.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entran los coches sin etiqueta.</a:t>
            </a:r>
            <a:endParaRPr lang="en-US" sz="3200" dirty="0"/>
          </a:p>
        </p:txBody>
      </p:sp>
      <p:sp>
        <p:nvSpPr>
          <p:cNvPr id="7" name="Tarjeta"/>
          <p:cNvSpPr/>
          <p:nvPr/>
        </p:nvSpPr>
        <p:spPr>
          <a:xfrm>
            <a:off x="4400550" y="1778000"/>
            <a:ext cx="3384550" cy="1397000"/>
          </a:xfrm>
          <a:prstGeom prst="roundRect">
            <a:avLst>
              <a:gd name="adj" fmla="val 11127"/>
            </a:avLst>
          </a:prstGeom>
          <a:solidFill>
            <a:schemeClr val="bg2"/>
          </a:solidFill>
          <a:ln/>
        </p:spPr>
      </p:sp>
      <p:sp>
        <p:nvSpPr>
          <p:cNvPr id="8" name="Texto tarjeta"/>
          <p:cNvSpPr txBox="1"/>
          <p:nvPr/>
        </p:nvSpPr>
        <p:spPr>
          <a:xfrm>
            <a:off x="4654550" y="19685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16 jun 2025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Fase 2.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Tampoco la etiqueta B de quien no vive dentro.</a:t>
            </a:r>
            <a:endParaRPr lang="en-US" sz="3200" dirty="0"/>
          </a:p>
        </p:txBody>
      </p:sp>
      <p:sp>
        <p:nvSpPr>
          <p:cNvPr id="9" name="Tarjeta"/>
          <p:cNvSpPr/>
          <p:nvPr/>
        </p:nvSpPr>
        <p:spPr>
          <a:xfrm>
            <a:off x="8039100" y="1778000"/>
            <a:ext cx="3384550" cy="1397000"/>
          </a:xfrm>
          <a:prstGeom prst="roundRect">
            <a:avLst>
              <a:gd name="adj" fmla="val 11127"/>
            </a:avLst>
          </a:prstGeom>
          <a:solidFill>
            <a:schemeClr val="bg2"/>
          </a:solidFill>
          <a:ln/>
        </p:spPr>
      </p:sp>
      <p:sp>
        <p:nvSpPr>
          <p:cNvPr id="10" name="Texto tarjeta"/>
          <p:cNvSpPr txBox="1"/>
          <p:nvPr/>
        </p:nvSpPr>
        <p:spPr>
          <a:xfrm>
            <a:off x="8293100" y="19685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L–V · 7–20 h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Horario.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Fuera de esas horas no hay restricción.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Medimos el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NO₂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(dióxido de nitrógeno): el gas que sale sobre todo del tubo de escape de los coches diésel. Si la ZBE funciona, es el primero que tiene que bajar.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LOS DATOS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Hora a hora, de 2022 a 2026</a:t>
            </a:r>
            <a:endParaRPr lang="en-US" sz="3600" dirty="0"/>
          </a:p>
        </p:txBody>
      </p:sp>
      <p:sp>
        <p:nvSpPr>
          <p:cNvPr id="5" name="Tarjeta"/>
          <p:cNvSpPr/>
          <p:nvPr/>
        </p:nvSpPr>
        <p:spPr>
          <a:xfrm>
            <a:off x="762000" y="1714500"/>
            <a:ext cx="3384550" cy="1079500"/>
          </a:xfrm>
          <a:prstGeom prst="roundRect">
            <a:avLst>
              <a:gd name="adj" fmla="val 14400"/>
            </a:avLst>
          </a:prstGeom>
          <a:solidFill>
            <a:schemeClr val="bg2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1905000"/>
            <a:ext cx="2876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8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estaciones de medida</a:t>
            </a:r>
            <a:endParaRPr lang="en-US" sz="3200" dirty="0"/>
          </a:p>
        </p:txBody>
      </p:sp>
      <p:sp>
        <p:nvSpPr>
          <p:cNvPr id="7" name="Tarjeta"/>
          <p:cNvSpPr/>
          <p:nvPr/>
        </p:nvSpPr>
        <p:spPr>
          <a:xfrm>
            <a:off x="4400550" y="1714500"/>
            <a:ext cx="3384550" cy="1079500"/>
          </a:xfrm>
          <a:prstGeom prst="roundRect">
            <a:avLst>
              <a:gd name="adj" fmla="val 14400"/>
            </a:avLst>
          </a:prstGeom>
          <a:solidFill>
            <a:schemeClr val="bg2"/>
          </a:solidFill>
          <a:ln/>
        </p:spPr>
      </p:sp>
      <p:sp>
        <p:nvSpPr>
          <p:cNvPr id="8" name="Texto tarjeta"/>
          <p:cNvSpPr txBox="1"/>
          <p:nvPr/>
        </p:nvSpPr>
        <p:spPr>
          <a:xfrm>
            <a:off x="4654550" y="1905000"/>
            <a:ext cx="2876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332.619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horas medidas, sin duplicados</a:t>
            </a:r>
            <a:endParaRPr lang="en-US" sz="3200" dirty="0"/>
          </a:p>
        </p:txBody>
      </p:sp>
      <p:sp>
        <p:nvSpPr>
          <p:cNvPr id="9" name="Tarjeta"/>
          <p:cNvSpPr/>
          <p:nvPr/>
        </p:nvSpPr>
        <p:spPr>
          <a:xfrm>
            <a:off x="8039100" y="1714500"/>
            <a:ext cx="3384550" cy="1079500"/>
          </a:xfrm>
          <a:prstGeom prst="roundRect">
            <a:avLst>
              <a:gd name="adj" fmla="val 14400"/>
            </a:avLst>
          </a:prstGeom>
          <a:solidFill>
            <a:schemeClr val="bg2"/>
          </a:solidFill>
          <a:ln/>
        </p:spPr>
      </p:sp>
      <p:sp>
        <p:nvSpPr>
          <p:cNvPr id="10" name="Texto tarjeta"/>
          <p:cNvSpPr txBox="1"/>
          <p:nvPr/>
        </p:nvSpPr>
        <p:spPr>
          <a:xfrm>
            <a:off x="8293100" y="1905000"/>
            <a:ext cx="2876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96,7 %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las horas tienen dato válido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111500"/>
          <a:ext cx="10668000" cy="914400"/>
        </p:xfrm>
        <a:graphic>
          <a:graphicData uri="http://schemas.openxmlformats.org/drawingml/2006/table">
            <a:tbl>
              <a:tblPr/>
              <a:tblGrid>
                <a:gridCol w="3302000"/>
                <a:gridCol w="3810000"/>
                <a:gridCol w="35560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APORTA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Data Euskadi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NO₂ y SO₂ cada hora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se mide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Open-Meteo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Viento, lluvia, temperatura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Descontar el tiempo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Calendario propio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Fases, horario y festivos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Saber cuándo actúa la ZBE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Bilbao Open 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Tráfico cada 5 min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para el panel en vivo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Limpio y crudo dan la misma media: la diferencia por estación es menor de 0,03 µg/m³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LA TRAMPA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Fuera de la ZBE el NO₂ también baja</a:t>
            </a:r>
            <a:endParaRPr lang="en-US" sz="3600" dirty="0"/>
          </a:p>
        </p:txBody>
      </p:sp>
      <p:graphicFrame>
        <p:nvGraphicFramePr>
          <p:cNvPr id="5" name="Gráfico NO2 anual" descr=""/>
          <p:cNvGraphicFramePr/>
          <p:nvPr/>
        </p:nvGraphicFramePr>
        <p:xfrm>
          <a:off x="762000" y="1651000"/>
          <a:ext cx="6858000" cy="4381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001000" y="2095500"/>
            <a:ext cx="3429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La ZBE entra a mitad de 2024.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Los coches se renuevan y el tiempo cambia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 toda la comarca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Si solo miramos dentro, nos apuntaríamos una bajada que no es de la ZBE.</a:t>
            </a:r>
            <a:endParaRPr lang="en-US" sz="1700" dirty="0"/>
          </a:p>
        </p:txBody>
      </p:sp>
      <p:sp>
        <p:nvSpPr>
          <p:cNvPr id="7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Media anual de NO₂ en µg/m³. 2026: enero a septiembre.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CÓMO LO MEDIMOS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Comparamos dentro con fuera</a:t>
            </a:r>
            <a:endParaRPr lang="en-US" sz="3600" dirty="0"/>
          </a:p>
        </p:txBody>
      </p:sp>
      <p:sp>
        <p:nvSpPr>
          <p:cNvPr id="5" name="Tarjeta"/>
          <p:cNvSpPr/>
          <p:nvPr/>
        </p:nvSpPr>
        <p:spPr>
          <a:xfrm>
            <a:off x="762000" y="1714500"/>
            <a:ext cx="3384550" cy="1905000"/>
          </a:xfrm>
          <a:prstGeom prst="roundRect">
            <a:avLst>
              <a:gd name="adj" fmla="val 8160"/>
            </a:avLst>
          </a:prstGeom>
          <a:solidFill>
            <a:schemeClr val="bg2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1905000"/>
            <a:ext cx="28765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Dentro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Mazarredo y Mª Díaz de Haro. Tienen la restricción.</a:t>
            </a:r>
            <a:endParaRPr lang="en-US" sz="2000" dirty="0"/>
          </a:p>
        </p:txBody>
      </p:sp>
      <p:sp>
        <p:nvSpPr>
          <p:cNvPr id="7" name="Tarjeta"/>
          <p:cNvSpPr/>
          <p:nvPr/>
        </p:nvSpPr>
        <p:spPr>
          <a:xfrm>
            <a:off x="4400550" y="1714500"/>
            <a:ext cx="3384550" cy="1905000"/>
          </a:xfrm>
          <a:prstGeom prst="roundRect">
            <a:avLst>
              <a:gd name="adj" fmla="val 8160"/>
            </a:avLst>
          </a:prstGeom>
          <a:solidFill>
            <a:schemeClr val="bg2"/>
          </a:solidFill>
          <a:ln/>
        </p:spPr>
      </p:sp>
      <p:sp>
        <p:nvSpPr>
          <p:cNvPr id="8" name="Texto tarjeta"/>
          <p:cNvSpPr txBox="1"/>
          <p:nvPr/>
        </p:nvSpPr>
        <p:spPr>
          <a:xfrm>
            <a:off x="4654550" y="1905000"/>
            <a:ext cx="28765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Fuera (control)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Europa, Barakaldo, Basauri, Erandio y Castrejana. Mismo tiempo y mismos coches, sin restricción.</a:t>
            </a:r>
            <a:endParaRPr lang="en-US" sz="2000" dirty="0"/>
          </a:p>
        </p:txBody>
      </p:sp>
      <p:sp>
        <p:nvSpPr>
          <p:cNvPr id="9" name="Tarjeta"/>
          <p:cNvSpPr/>
          <p:nvPr/>
        </p:nvSpPr>
        <p:spPr>
          <a:xfrm>
            <a:off x="8039100" y="1714500"/>
            <a:ext cx="3384550" cy="1905000"/>
          </a:xfrm>
          <a:prstGeom prst="roundRect">
            <a:avLst>
              <a:gd name="adj" fmla="val 8160"/>
            </a:avLst>
          </a:prstGeom>
          <a:solidFill>
            <a:schemeClr val="bg2"/>
          </a:solidFill>
          <a:ln/>
        </p:spPr>
      </p:sp>
      <p:sp>
        <p:nvSpPr>
          <p:cNvPr id="10" name="Texto tarjeta"/>
          <p:cNvSpPr txBox="1"/>
          <p:nvPr/>
        </p:nvSpPr>
        <p:spPr>
          <a:xfrm>
            <a:off x="8293100" y="1905000"/>
            <a:ext cx="28765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Fondo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5"/>
                </a:solidFill>
              </a:rPr>
              <a:t>1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Monte Arraiz. Sin tráfico cerca: no entra en la cuenta.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62000" y="4127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Efecto ZBE = </a:t>
            </a:r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lo que baja dentro</a:t>
            </a:r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lo que baja fuera</a:t>
            </a:r>
            <a:endParaRPr lang="en-US" sz="2800" dirty="0"/>
          </a:p>
        </p:txBody>
      </p:sp>
      <p:sp>
        <p:nvSpPr>
          <p:cNvPr id="12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Antes: enero 2022 – 14 junio 2024 · Después: 15 junio 2024 – septiembre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RESULTADO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 ZBE quita 1,6 µg/m³ de NO₂ en el centro</a:t>
            </a:r>
            <a:endParaRPr lang="en-US" sz="3600" dirty="0"/>
          </a:p>
        </p:txBody>
      </p:sp>
      <p:graphicFrame>
        <p:nvGraphicFramePr>
          <p:cNvPr id="5" name="Gráfico resultado" descr=""/>
          <p:cNvGraphicFramePr/>
          <p:nvPr/>
        </p:nvGraphicFramePr>
        <p:xfrm>
          <a:off x="762000" y="1778000"/>
          <a:ext cx="6985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rjeta"/>
          <p:cNvSpPr/>
          <p:nvPr/>
        </p:nvSpPr>
        <p:spPr>
          <a:xfrm>
            <a:off x="8255000" y="1905000"/>
            <a:ext cx="3175000" cy="3048000"/>
          </a:xfrm>
          <a:prstGeom prst="roundRect">
            <a:avLst>
              <a:gd name="adj" fmla="val 5100"/>
            </a:avLst>
          </a:prstGeom>
          <a:solidFill>
            <a:schemeClr val="bg2"/>
          </a:solidFill>
          <a:ln/>
        </p:spPr>
      </p:sp>
      <p:sp>
        <p:nvSpPr>
          <p:cNvPr id="7" name="Texto tarjeta"/>
          <p:cNvSpPr txBox="1"/>
          <p:nvPr/>
        </p:nvSpPr>
        <p:spPr>
          <a:xfrm>
            <a:off x="8509000" y="2095500"/>
            <a:ext cx="266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6000" b="1" dirty="0">
                <a:solidFill>
                  <a:schemeClr val="tx1"/>
                </a:solidFill>
              </a:rPr>
              <a:t>−6 %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del NO₂ que había dentro antes de la ZBE (25,5 µg/m³).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</a:t>
            </a:r>
            <a:endParaRPr lang="en-US" sz="6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Margen: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entre −0,9 y −2,4. No llega a cero.</a:t>
            </a:r>
            <a:endParaRPr lang="en-US" sz="6000" dirty="0"/>
          </a:p>
        </p:txBody>
      </p:sp>
      <p:sp>
        <p:nvSpPr>
          <p:cNvPr id="8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µg/m³ de NO₂, media antes frente a media después. Margen: intervalo del 95 % por semanas (bootstrap).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¿SEGURO QUE ES LA ZBE?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Cuatro comprobaciones</a:t>
            </a:r>
            <a:endParaRPr lang="en-US" sz="3600" dirty="0"/>
          </a:p>
        </p:txBody>
      </p:sp>
      <p:sp>
        <p:nvSpPr>
          <p:cNvPr id="5" name="Tarjeta"/>
          <p:cNvSpPr/>
          <p:nvPr/>
        </p:nvSpPr>
        <p:spPr>
          <a:xfrm>
            <a:off x="762000" y="1714500"/>
            <a:ext cx="2514600" cy="2540000"/>
          </a:xfrm>
          <a:prstGeom prst="roundRect">
            <a:avLst>
              <a:gd name="adj" fmla="val 6182"/>
            </a:avLst>
          </a:prstGeom>
          <a:solidFill>
            <a:schemeClr val="bg2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1905000"/>
            <a:ext cx="2006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Horario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−2,93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la ZBE activa</a:t>
            </a: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−0,85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sin ella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16000" y="3746500"/>
            <a:ext cx="200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Baja cuando actúa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3479800" y="1714500"/>
            <a:ext cx="2514600" cy="2540000"/>
          </a:xfrm>
          <a:prstGeom prst="roundRect">
            <a:avLst>
              <a:gd name="adj" fmla="val 6182"/>
            </a:avLst>
          </a:prstGeom>
          <a:solidFill>
            <a:schemeClr val="bg2"/>
          </a:solidFill>
          <a:ln/>
        </p:spPr>
      </p:sp>
      <p:sp>
        <p:nvSpPr>
          <p:cNvPr id="9" name="Texto tarjeta"/>
          <p:cNvSpPr txBox="1"/>
          <p:nvPr/>
        </p:nvSpPr>
        <p:spPr>
          <a:xfrm>
            <a:off x="3733800" y="1905000"/>
            <a:ext cx="2006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Sin viento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−1,23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 horas de calma, cuando el aire no se renueva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733800" y="3746500"/>
            <a:ext cx="200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No es el viento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6197600" y="1714500"/>
            <a:ext cx="2514600" cy="2540000"/>
          </a:xfrm>
          <a:prstGeom prst="roundRect">
            <a:avLst>
              <a:gd name="adj" fmla="val 6182"/>
            </a:avLst>
          </a:prstGeom>
          <a:solidFill>
            <a:schemeClr val="bg2"/>
          </a:solidFill>
          <a:ln/>
        </p:spPr>
      </p:sp>
      <p:sp>
        <p:nvSpPr>
          <p:cNvPr id="12" name="Texto tarjeta"/>
          <p:cNvSpPr txBox="1"/>
          <p:nvPr/>
        </p:nvSpPr>
        <p:spPr>
          <a:xfrm>
            <a:off x="6451600" y="1905000"/>
            <a:ext cx="2006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SO₂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+0,33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gas que no sale de los coches: no baja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51600" y="3746500"/>
            <a:ext cx="200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El método no se inventa bajadas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8915400" y="1714500"/>
            <a:ext cx="2514600" cy="2540000"/>
          </a:xfrm>
          <a:prstGeom prst="roundRect">
            <a:avLst>
              <a:gd name="adj" fmla="val 6182"/>
            </a:avLst>
          </a:prstGeom>
          <a:solidFill>
            <a:schemeClr val="bg2"/>
          </a:solidFill>
          <a:ln/>
        </p:spPr>
      </p:sp>
      <p:sp>
        <p:nvSpPr>
          <p:cNvPr id="15" name="Texto tarjeta"/>
          <p:cNvSpPr txBox="1"/>
          <p:nvPr/>
        </p:nvSpPr>
        <p:spPr>
          <a:xfrm>
            <a:off x="9169400" y="1905000"/>
            <a:ext cx="2006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Fase 2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−0,52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sobre la fase 1, con margen de −1,72 a +0,74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169400" y="3746500"/>
            <a:ext cx="200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✗ Aún no se nota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463550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 de 4 a favor. 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La bajada aparece justo cuando la ZBE actúa. La fase 2 todavía no añade nada medible.</a:t>
            </a:r>
            <a:endParaRPr lang="en-US" sz="2000" dirty="0"/>
          </a:p>
        </p:txBody>
      </p:sp>
      <p:sp>
        <p:nvSpPr>
          <p:cNvPr id="18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Efecto ZBE en µg/m³ (dentro − fuera) en cada caso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EL SISTEMA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Del dato al panel, en tiempo real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333500" y="1714500"/>
            <a:ext cx="1016000" cy="254000"/>
          </a:xfrm>
          <a:prstGeom prst="roundRect">
            <a:avLst>
              <a:gd name="adj" fmla="val 50400"/>
            </a:avLst>
          </a:prstGeom>
          <a:solidFill>
            <a:srgbClr val="1118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33500" y="17145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68750" y="1714500"/>
            <a:ext cx="1016000" cy="254000"/>
          </a:xfrm>
          <a:prstGeom prst="roundRect">
            <a:avLst>
              <a:gd name="adj" fmla="val 50400"/>
            </a:avLst>
          </a:prstGeom>
          <a:solidFill>
            <a:srgbClr val="1118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68750" y="17145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85000" y="1714500"/>
            <a:ext cx="1016000" cy="254000"/>
          </a:xfrm>
          <a:prstGeom prst="roundRect">
            <a:avLst>
              <a:gd name="adj" fmla="val 50400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85000" y="17145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ALMACÉN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969500" y="1714500"/>
            <a:ext cx="1016000" cy="254000"/>
          </a:xfrm>
          <a:prstGeom prst="roundRect">
            <a:avLst>
              <a:gd name="adj" fmla="val 50400"/>
            </a:avLst>
          </a:prstGeom>
          <a:solidFill>
            <a:srgbClr val="11182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969500" y="17145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46400" y="2508250"/>
            <a:ext cx="520700" cy="63500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46400" y="3397250"/>
            <a:ext cx="5207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 flipV="1">
            <a:off x="2946400" y="3651250"/>
            <a:ext cx="520700" cy="63500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86400" y="3397250"/>
            <a:ext cx="10287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470900" y="3397250"/>
            <a:ext cx="10287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86400" y="4699000"/>
            <a:ext cx="16891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7175500" y="4025900"/>
            <a:ext cx="0" cy="67310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001000" y="4025900"/>
            <a:ext cx="0" cy="67310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01000" y="4699000"/>
            <a:ext cx="14986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5461000" y="31623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61000" y="346075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nodered-write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445500" y="31623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445500" y="346075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read-all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791200" y="448945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batch-write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210550" y="448945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mcp-read-only</a:t>
            </a:r>
            <a:endParaRPr lang="en-US" sz="900" dirty="0"/>
          </a:p>
        </p:txBody>
      </p:sp>
      <p:sp>
        <p:nvSpPr>
          <p:cNvPr id="28" name="Caja Open-Meteo"/>
          <p:cNvSpPr/>
          <p:nvPr/>
        </p:nvSpPr>
        <p:spPr>
          <a:xfrm>
            <a:off x="762000" y="2159000"/>
            <a:ext cx="2159000" cy="6985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14400" y="2235200"/>
            <a:ext cx="1854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Open-Meteo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· cada 15 min</a:t>
            </a:r>
            <a:endParaRPr lang="en-US" sz="1600" dirty="0"/>
          </a:p>
        </p:txBody>
      </p:sp>
      <p:sp>
        <p:nvSpPr>
          <p:cNvPr id="30" name="Caja Bilbao Open Data"/>
          <p:cNvSpPr/>
          <p:nvPr/>
        </p:nvSpPr>
        <p:spPr>
          <a:xfrm>
            <a:off x="762000" y="3048000"/>
            <a:ext cx="2159000" cy="6985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914400" y="3124200"/>
            <a:ext cx="1854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Bilbao Open Data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tramos · cada 5 min</a:t>
            </a:r>
            <a:endParaRPr lang="en-US" sz="1600" dirty="0"/>
          </a:p>
        </p:txBody>
      </p:sp>
      <p:sp>
        <p:nvSpPr>
          <p:cNvPr id="32" name="Caja Histórico de NO₂"/>
          <p:cNvSpPr/>
          <p:nvPr/>
        </p:nvSpPr>
        <p:spPr>
          <a:xfrm>
            <a:off x="762000" y="3937000"/>
            <a:ext cx="2159000" cy="6985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14400" y="4013200"/>
            <a:ext cx="1854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Histórico de NO₂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hora cada 5 s · demo</a:t>
            </a:r>
            <a:endParaRPr lang="en-US" sz="1600" dirty="0"/>
          </a:p>
        </p:txBody>
      </p:sp>
      <p:sp>
        <p:nvSpPr>
          <p:cNvPr id="34" name="Caja Node-RED"/>
          <p:cNvSpPr/>
          <p:nvPr/>
        </p:nvSpPr>
        <p:spPr>
          <a:xfrm>
            <a:off x="3492500" y="2794000"/>
            <a:ext cx="1968500" cy="1206500"/>
          </a:xfrm>
          <a:prstGeom prst="roundRect">
            <a:avLst>
              <a:gd name="adj" fmla="val 7579"/>
            </a:avLst>
          </a:prstGeom>
          <a:solidFill>
            <a:srgbClr val="EDE9FE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3644900" y="2870200"/>
            <a:ext cx="16637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Node-RED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flujos: consulta, ordena y escribe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:1880</a:t>
            </a:r>
            <a:endParaRPr lang="en-US" sz="2200" dirty="0"/>
          </a:p>
        </p:txBody>
      </p:sp>
      <p:sp>
        <p:nvSpPr>
          <p:cNvPr id="36" name="Caja InfluxDB"/>
          <p:cNvSpPr/>
          <p:nvPr/>
        </p:nvSpPr>
        <p:spPr>
          <a:xfrm>
            <a:off x="6540500" y="2794000"/>
            <a:ext cx="1905000" cy="1206500"/>
          </a:xfrm>
          <a:prstGeom prst="roundRect">
            <a:avLst>
              <a:gd name="adj" fmla="val 7579"/>
            </a:avLst>
          </a:prstGeom>
          <a:solidFill>
            <a:srgbClr val="D1FAE5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692900" y="2870200"/>
            <a:ext cx="16002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InfluxDB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buckets de series temporales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:8086</a:t>
            </a:r>
            <a:endParaRPr lang="en-US" sz="2200" dirty="0"/>
          </a:p>
        </p:txBody>
      </p:sp>
      <p:sp>
        <p:nvSpPr>
          <p:cNvPr id="38" name="Caja Grafana"/>
          <p:cNvSpPr/>
          <p:nvPr/>
        </p:nvSpPr>
        <p:spPr>
          <a:xfrm>
            <a:off x="9525000" y="2794000"/>
            <a:ext cx="1905000" cy="1206500"/>
          </a:xfrm>
          <a:prstGeom prst="roundRect">
            <a:avLst>
              <a:gd name="adj" fmla="val 7579"/>
            </a:avLst>
          </a:prstGeom>
          <a:solidFill>
            <a:srgbClr val="FEF3C7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9677400" y="2870200"/>
            <a:ext cx="16002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Grafana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paneles, alertas y roles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2200" dirty="0"/>
          </a:p>
        </p:txBody>
      </p:sp>
      <p:sp>
        <p:nvSpPr>
          <p:cNvPr id="40" name="Caja pandas"/>
          <p:cNvSpPr/>
          <p:nvPr/>
        </p:nvSpPr>
        <p:spPr>
          <a:xfrm>
            <a:off x="3492500" y="4381500"/>
            <a:ext cx="1968500" cy="635000"/>
          </a:xfrm>
          <a:prstGeom prst="roundRect">
            <a:avLst>
              <a:gd name="adj" fmla="val 14400"/>
            </a:avLst>
          </a:prstGeom>
          <a:solidFill>
            <a:srgbClr val="DBEAFE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3644900" y="4457700"/>
            <a:ext cx="16637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por lotes</a:t>
            </a:r>
            <a:endParaRPr lang="en-US" sz="1600" dirty="0"/>
          </a:p>
        </p:txBody>
      </p:sp>
      <p:sp>
        <p:nvSpPr>
          <p:cNvPr id="42" name="Caja MCP"/>
          <p:cNvSpPr/>
          <p:nvPr/>
        </p:nvSpPr>
        <p:spPr>
          <a:xfrm>
            <a:off x="9525000" y="4381500"/>
            <a:ext cx="1905000" cy="635000"/>
          </a:xfrm>
          <a:prstGeom prst="roundRect">
            <a:avLst>
              <a:gd name="adj" fmla="val 14400"/>
            </a:avLst>
          </a:prstGeom>
          <a:solidFill>
            <a:srgbClr val="FCE7F3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9677400" y="4457700"/>
            <a:ext cx="1600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MCP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lectura · :5001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62000" y="5270500"/>
            <a:ext cx="10668000" cy="508000"/>
          </a:xfrm>
          <a:prstGeom prst="roundRect">
            <a:avLst>
              <a:gd name="adj" fmla="val 18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50800" dir="5400000">
              <a:srgbClr val="86EFAC">
                <a:alpha val="100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965200" y="5270500"/>
            <a:ext cx="1028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   7 contenedores · puertos solo en 127.0.0.1 · buckets y tokens se crean solos</a:t>
            </a:r>
            <a:endParaRPr lang="en-US" sz="1500" dirty="0"/>
          </a:p>
        </p:txBody>
      </p:sp>
      <p:sp>
        <p:nvSpPr>
          <p:cNvPr id="46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Cada flecha usa su propio token de InfluxDB. Los dos de escritura no los tiene Grafana ni el MCP.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POR DENTRO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InfluxDB y Node-RED: dónde y quién entra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50" y="1670050"/>
          <a:ext cx="51689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2413000"/>
                <a:gridCol w="1295400"/>
              </a:tblGrid>
              <a:tr h="44450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buckets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carpetas con caducidad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aire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histórico de NO₂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caduca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meteo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tiempo, vivo e histórico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caduca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trafico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 tramos cada 5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aire_demo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NO₂ reproducido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2050" y="1670050"/>
          <a:ext cx="5168900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3454400"/>
              </a:tblGrid>
              <a:tr h="4445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tokens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ninguno en Git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nodered-write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escribe lo que llega en vivo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batch-write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escribe el histórico (pandas)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read-all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lee · Grafana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mcp-read-only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lee · MCP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62000" y="3873500"/>
            <a:ext cx="10668000" cy="154940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50" y="3892550"/>
          <a:ext cx="106299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9169400"/>
              </a:tblGrid>
              <a:tr h="4445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flujos de Node-RED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consulta → ordena → escribe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meteo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15 min  →  GET Open-Meteo  →  parsear  →  bucket meteo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trafico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5 min  →  GET tráfico Bilbao (GeoJSON)  →  parsear tramos  →  bucket trafico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aire_demo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5 s  →  siguiente hora del histórico  →  bucket aire_demo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Cada flujo tiene un nodo catch para errores. MCP: si intenta escribir, InfluxDB responde 403.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ASÍ SE VE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Los flujos y los datos, por dentro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17018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15 min</a:t>
            </a:r>
            <a:endParaRPr lang="en-US" sz="1300" dirty="0"/>
          </a:p>
        </p:txBody>
      </p:sp>
      <p:pic>
        <p:nvPicPr>
          <p:cNvPr id="6" name="Flujo meteo de Node-RED" descr="Flujo meteo de Node-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00250"/>
            <a:ext cx="5207000" cy="8827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2000" y="30353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trafico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5 min · 81 tramos</a:t>
            </a:r>
            <a:endParaRPr lang="en-US" sz="1300" dirty="0"/>
          </a:p>
        </p:txBody>
      </p:sp>
      <p:pic>
        <p:nvPicPr>
          <p:cNvPr id="8" name="Flujo trafico de Node-RED" descr="Flujo trafico de Node-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33750"/>
            <a:ext cx="4527550" cy="88549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2000" y="43688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aire_demo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5 s · una hora del histórico</a:t>
            </a:r>
            <a:endParaRPr lang="en-US" sz="1300" dirty="0"/>
          </a:p>
        </p:txBody>
      </p:sp>
      <p:pic>
        <p:nvPicPr>
          <p:cNvPr id="10" name="Flujo aire_demo de Node-RED" descr="Flujo aire_demo de Node-R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67250"/>
            <a:ext cx="3594100" cy="88477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273800" y="1701800"/>
            <a:ext cx="515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bucket aire · últimos 30 días</a:t>
            </a:r>
            <a:endParaRPr lang="en-US" sz="1300" dirty="0"/>
          </a:p>
        </p:txBody>
      </p:sp>
      <p:pic>
        <p:nvPicPr>
          <p:cNvPr id="12" name="Data Explorer de InfluxDB" descr="Data Explorer de InfluxD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0" y="2000250"/>
            <a:ext cx="5156200" cy="209470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273800" y="4254500"/>
            <a:ext cx="5156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Measurement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contaminantes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, campo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no2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y tags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estacion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zona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(dentro / fuera). Media por hora.</a:t>
            </a:r>
            <a:endParaRPr lang="en-US" sz="1400" dirty="0"/>
          </a:p>
        </p:txBody>
      </p:sp>
      <p:sp>
        <p:nvSpPr>
          <p:cNvPr id="14" name="Text 7"/>
          <p:cNvSpPr txBox="1"/>
          <p:nvPr/>
        </p:nvSpPr>
        <p:spPr>
          <a:xfrm>
            <a:off x="6273800" y="50800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Capturas, no en vivo. Para verlo en directo: clonar el repo y docker compose up -d --build</a:t>
            </a:r>
            <a:endParaRPr lang="en-US" sz="1100" dirty="0"/>
          </a:p>
        </p:txBody>
      </p:sp>
      <p:sp>
        <p:nvSpPr>
          <p:cNvPr id="15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Capturas del sistema funcionando. Cada flujo tiene su catch que registra los errores.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GRAFANA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Cada uno ve lo suyo</a:t>
            </a:r>
            <a:endParaRPr lang="en-US" sz="3600" dirty="0"/>
          </a:p>
        </p:txBody>
      </p:sp>
      <p:sp>
        <p:nvSpPr>
          <p:cNvPr id="5" name="Tarjeta"/>
          <p:cNvSpPr/>
          <p:nvPr/>
        </p:nvSpPr>
        <p:spPr>
          <a:xfrm>
            <a:off x="762000" y="1714500"/>
            <a:ext cx="3302000" cy="812800"/>
          </a:xfrm>
          <a:prstGeom prst="roundRect">
            <a:avLst>
              <a:gd name="adj" fmla="val 19125"/>
            </a:avLst>
          </a:prstGeom>
          <a:solidFill>
            <a:schemeClr val="bg2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19050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Dirección · 4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 todos los paneles. No edita.</a:t>
            </a:r>
            <a:endParaRPr lang="en-US" sz="1600" dirty="0"/>
          </a:p>
        </p:txBody>
      </p:sp>
      <p:sp>
        <p:nvSpPr>
          <p:cNvPr id="7" name="Tarjeta"/>
          <p:cNvSpPr/>
          <p:nvPr/>
        </p:nvSpPr>
        <p:spPr>
          <a:xfrm>
            <a:off x="762000" y="2603500"/>
            <a:ext cx="3302000" cy="812800"/>
          </a:xfrm>
          <a:prstGeom prst="roundRect">
            <a:avLst>
              <a:gd name="adj" fmla="val 19125"/>
            </a:avLst>
          </a:prstGeom>
          <a:solidFill>
            <a:schemeClr val="bg2"/>
          </a:solidFill>
          <a:ln/>
        </p:spPr>
      </p:sp>
      <p:sp>
        <p:nvSpPr>
          <p:cNvPr id="8" name="Texto tarjeta"/>
          <p:cNvSpPr txBox="1"/>
          <p:nvPr/>
        </p:nvSpPr>
        <p:spPr>
          <a:xfrm>
            <a:off x="1016000" y="27940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Análisis · 6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Solo su panel. No edita.</a:t>
            </a:r>
            <a:endParaRPr lang="en-US" sz="1600" dirty="0"/>
          </a:p>
        </p:txBody>
      </p:sp>
      <p:sp>
        <p:nvSpPr>
          <p:cNvPr id="9" name="Tarjeta"/>
          <p:cNvSpPr/>
          <p:nvPr/>
        </p:nvSpPr>
        <p:spPr>
          <a:xfrm>
            <a:off x="762000" y="3492500"/>
            <a:ext cx="3302000" cy="812800"/>
          </a:xfrm>
          <a:prstGeom prst="roundRect">
            <a:avLst>
              <a:gd name="adj" fmla="val 19125"/>
            </a:avLst>
          </a:prstGeom>
          <a:solidFill>
            <a:schemeClr val="bg2"/>
          </a:solidFill>
          <a:ln/>
        </p:spPr>
      </p:sp>
      <p:sp>
        <p:nvSpPr>
          <p:cNvPr id="10" name="Texto tarjeta"/>
          <p:cNvSpPr txBox="1"/>
          <p:nvPr/>
        </p:nvSpPr>
        <p:spPr>
          <a:xfrm>
            <a:off x="1016000" y="36830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IT ·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 y edita todo, también alertas.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2000" y="444500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3 ALERTAS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2000" y="4730750"/>
            <a:ext cx="1041400" cy="730250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900" y="4806950"/>
            <a:ext cx="889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&gt; 200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límite horario UE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879600" y="4730750"/>
            <a:ext cx="1041400" cy="730250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68500" y="4806950"/>
            <a:ext cx="889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&gt; 25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media 24 h · OMS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997200" y="4730750"/>
            <a:ext cx="1041400" cy="730250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86100" y="4806950"/>
            <a:ext cx="889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&gt; 35 %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ocupación tráfico</a:t>
            </a:r>
            <a:endParaRPr lang="en-US" sz="1700" dirty="0"/>
          </a:p>
        </p:txBody>
      </p:sp>
      <p:pic>
        <p:nvPicPr>
          <p:cNvPr id="18" name="Captura Grafana" descr="Captura del dashboard Monitor ZBE de Grafana: relojes de NO2, mapa de la ZBE, evolución temporal, estadísticas y meteorolog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0" y="2190750"/>
            <a:ext cx="7112000" cy="36271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318000" y="1663700"/>
            <a:ext cx="711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Captura, no está en vivo y no se ve todo el panel.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Para verlo completo y en directo: clonar el repo y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100" dirty="0"/>
          </a:p>
        </p:txBody>
      </p:sp>
      <p:sp>
        <p:nvSpPr>
          <p:cNvPr id="20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NO₂ en µg/m³; avisos por correo a IT. Los relojes reproducen el histórico: una hora cada 5 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MODELO DE 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 IA predice el NO₂ que habría sin ZBE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16510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Error medio por hora en meses que el modelo no vio (µg/m³).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Menos es mejor.</a:t>
            </a:r>
            <a:endParaRPr lang="en-US" sz="1500" dirty="0"/>
          </a:p>
        </p:txBody>
      </p:sp>
      <p:graphicFrame>
        <p:nvGraphicFramePr>
          <p:cNvPr id="6" name="Gráfico MAE" descr=""/>
          <p:cNvGraphicFramePr/>
          <p:nvPr/>
        </p:nvGraphicFramePr>
        <p:xfrm>
          <a:off x="762000" y="2095500"/>
          <a:ext cx="6350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620000" y="1778000"/>
            <a:ext cx="3810000" cy="1016000"/>
          </a:xfrm>
          <a:prstGeom prst="roundRect">
            <a:avLst>
              <a:gd name="adj" fmla="val 153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74000" y="193675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Aprende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2022 y 2023: tiempo, hora, día y estación.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620000" y="2984500"/>
            <a:ext cx="3810000" cy="1016000"/>
          </a:xfrm>
          <a:prstGeom prst="roundRect">
            <a:avLst>
              <a:gd name="adj" fmla="val 153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874000" y="314325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−0,49 µg/m³ atribuibles a la ZBE. Misma dirección, más pequeño.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20000" y="4191000"/>
            <a:ext cx="3810000" cy="1016000"/>
          </a:xfrm>
          <a:prstGeom prst="roundRect">
            <a:avLst>
              <a:gd name="adj" fmla="val 153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74000" y="434975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Prueba: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una ZBE falsa en 2023 sale +0,33, que no se distingue de cero.</a:t>
            </a:r>
            <a:endParaRPr lang="en-US" sz="1400" dirty="0"/>
          </a:p>
        </p:txBody>
      </p:sp>
      <p:sp>
        <p:nvSpPr>
          <p:cNvPr id="13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La comparación dentro − fuera es estadística, no IA: sirve para comprobar el modelo.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508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EQUIPO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825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trabajamos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073400" y="2190750"/>
            <a:ext cx="4572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5867400" y="2190750"/>
            <a:ext cx="4572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8661400" y="2190750"/>
            <a:ext cx="4572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8" name="Caja feature/… · fix/…"/>
          <p:cNvSpPr/>
          <p:nvPr/>
        </p:nvSpPr>
        <p:spPr>
          <a:xfrm>
            <a:off x="762000" y="1714500"/>
            <a:ext cx="22860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1790700"/>
            <a:ext cx="198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feature/… · fix/…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rama por tarea</a:t>
            </a:r>
            <a:endParaRPr lang="en-US" sz="1700" dirty="0"/>
          </a:p>
        </p:txBody>
      </p:sp>
      <p:sp>
        <p:nvSpPr>
          <p:cNvPr id="10" name="Caja Pull request"/>
          <p:cNvSpPr/>
          <p:nvPr/>
        </p:nvSpPr>
        <p:spPr>
          <a:xfrm>
            <a:off x="3556000" y="1714500"/>
            <a:ext cx="22860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708400" y="1790700"/>
            <a:ext cx="198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Pull request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revisa otro compañero</a:t>
            </a:r>
            <a:endParaRPr lang="en-US" sz="1700" dirty="0"/>
          </a:p>
        </p:txBody>
      </p:sp>
      <p:sp>
        <p:nvSpPr>
          <p:cNvPr id="12" name="Caja develop"/>
          <p:cNvSpPr/>
          <p:nvPr/>
        </p:nvSpPr>
        <p:spPr>
          <a:xfrm>
            <a:off x="6350000" y="1714500"/>
            <a:ext cx="22860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02400" y="1790700"/>
            <a:ext cx="198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develop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integrado</a:t>
            </a:r>
            <a:endParaRPr lang="en-US" sz="1700" dirty="0"/>
          </a:p>
        </p:txBody>
      </p:sp>
      <p:sp>
        <p:nvSpPr>
          <p:cNvPr id="14" name="Caja main"/>
          <p:cNvSpPr/>
          <p:nvPr/>
        </p:nvSpPr>
        <p:spPr>
          <a:xfrm>
            <a:off x="9144000" y="1714500"/>
            <a:ext cx="22860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8575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50800" dir="2700000">
              <a:srgbClr val="111827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296400" y="1790700"/>
            <a:ext cx="198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main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estable</a:t>
            </a:r>
            <a:endParaRPr lang="en-US" sz="1700" dirty="0"/>
          </a:p>
        </p:txBody>
      </p:sp>
      <p:sp>
        <p:nvSpPr>
          <p:cNvPr id="16" name="Tarjeta"/>
          <p:cNvSpPr/>
          <p:nvPr/>
        </p:nvSpPr>
        <p:spPr>
          <a:xfrm>
            <a:off x="762000" y="3175000"/>
            <a:ext cx="3384550" cy="1270000"/>
          </a:xfrm>
          <a:prstGeom prst="roundRect">
            <a:avLst>
              <a:gd name="adj" fmla="val 12240"/>
            </a:avLst>
          </a:prstGeom>
          <a:solidFill>
            <a:schemeClr val="bg2"/>
          </a:solidFill>
          <a:ln/>
        </p:spPr>
      </p:sp>
      <p:sp>
        <p:nvSpPr>
          <p:cNvPr id="17" name="Texto tarjeta"/>
          <p:cNvSpPr txBox="1"/>
          <p:nvPr/>
        </p:nvSpPr>
        <p:spPr>
          <a:xfrm>
            <a:off x="1016000" y="33655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sprints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con Scrum Master rotatorio</a:t>
            </a:r>
            <a:endParaRPr lang="en-US" sz="3200" dirty="0"/>
          </a:p>
        </p:txBody>
      </p:sp>
      <p:sp>
        <p:nvSpPr>
          <p:cNvPr id="18" name="Tarjeta"/>
          <p:cNvSpPr/>
          <p:nvPr/>
        </p:nvSpPr>
        <p:spPr>
          <a:xfrm>
            <a:off x="4400550" y="3175000"/>
            <a:ext cx="3384550" cy="1270000"/>
          </a:xfrm>
          <a:prstGeom prst="roundRect">
            <a:avLst>
              <a:gd name="adj" fmla="val 12240"/>
            </a:avLst>
          </a:prstGeom>
          <a:solidFill>
            <a:schemeClr val="bg2"/>
          </a:solidFill>
          <a:ln/>
        </p:spPr>
      </p:sp>
      <p:sp>
        <p:nvSpPr>
          <p:cNvPr id="19" name="Texto tarjeta"/>
          <p:cNvSpPr txBox="1"/>
          <p:nvPr/>
        </p:nvSpPr>
        <p:spPr>
          <a:xfrm>
            <a:off x="4654550" y="33655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10 min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daily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cada día de reto</a:t>
            </a:r>
            <a:endParaRPr lang="en-US" sz="3200" dirty="0"/>
          </a:p>
        </p:txBody>
      </p:sp>
      <p:sp>
        <p:nvSpPr>
          <p:cNvPr id="20" name="Tarjeta"/>
          <p:cNvSpPr/>
          <p:nvPr/>
        </p:nvSpPr>
        <p:spPr>
          <a:xfrm>
            <a:off x="8039100" y="3175000"/>
            <a:ext cx="3384550" cy="1270000"/>
          </a:xfrm>
          <a:prstGeom prst="roundRect">
            <a:avLst>
              <a:gd name="adj" fmla="val 12240"/>
            </a:avLst>
          </a:prstGeom>
          <a:solidFill>
            <a:schemeClr val="bg2"/>
          </a:solidFill>
          <a:ln/>
        </p:spPr>
      </p:sp>
      <p:sp>
        <p:nvSpPr>
          <p:cNvPr id="21" name="Texto tarjeta"/>
          <p:cNvSpPr txBox="1"/>
          <p:nvPr/>
        </p:nvSpPr>
        <p:spPr>
          <a:xfrm>
            <a:off x="8293100" y="33655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en-US" sz="3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fichero de cifras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: todo sale de una sola ejecución</a:t>
            </a:r>
            <a:endParaRPr lang="en-US" sz="3200" dirty="0"/>
          </a:p>
        </p:txBody>
      </p:sp>
      <p:sp>
        <p:nvSpPr>
          <p:cNvPr id="22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Repositorio: github.com/ai-somorrostro/haizelab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413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9525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VEREDICTO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1270000"/>
            <a:ext cx="1066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Sí, funciona.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Pero poco.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3619500"/>
            <a:ext cx="1066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El NO₂ del centro baja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1,6 µg/m³ más que fuera (−6 %)</a:t>
            </a:r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, y casi 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 en el horario de la ZBE.</a:t>
            </a:r>
            <a:endParaRPr lang="en-US" sz="2100" dirty="0"/>
          </a:p>
        </p:txBody>
      </p:sp>
      <p:sp>
        <p:nvSpPr>
          <p:cNvPr id="5" name="Tarjeta"/>
          <p:cNvSpPr/>
          <p:nvPr/>
        </p:nvSpPr>
        <p:spPr>
          <a:xfrm>
            <a:off x="762000" y="4381500"/>
            <a:ext cx="3384550" cy="1460500"/>
          </a:xfrm>
          <a:prstGeom prst="roundRect">
            <a:avLst>
              <a:gd name="adj" fmla="val 10643"/>
            </a:avLst>
          </a:prstGeom>
          <a:solidFill>
            <a:schemeClr val="tx1"/>
          </a:solidFill>
          <a:ln/>
        </p:spPr>
      </p:sp>
      <p:sp>
        <p:nvSpPr>
          <p:cNvPr id="6" name="Texto tarjeta"/>
          <p:cNvSpPr txBox="1"/>
          <p:nvPr/>
        </p:nvSpPr>
        <p:spPr>
          <a:xfrm>
            <a:off x="1016000" y="4572000"/>
            <a:ext cx="287655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Mantener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La ZBE y su horario. Es donde se ve el efecto.</a:t>
            </a:r>
            <a:endParaRPr lang="en-US" sz="2400" dirty="0"/>
          </a:p>
        </p:txBody>
      </p:sp>
      <p:sp>
        <p:nvSpPr>
          <p:cNvPr id="7" name="Tarjeta"/>
          <p:cNvSpPr/>
          <p:nvPr/>
        </p:nvSpPr>
        <p:spPr>
          <a:xfrm>
            <a:off x="4400550" y="4381500"/>
            <a:ext cx="3384550" cy="1460500"/>
          </a:xfrm>
          <a:prstGeom prst="roundRect">
            <a:avLst>
              <a:gd name="adj" fmla="val 10643"/>
            </a:avLst>
          </a:prstGeom>
          <a:solidFill>
            <a:schemeClr val="bg2"/>
          </a:solidFill>
          <a:ln/>
        </p:spPr>
      </p:sp>
      <p:sp>
        <p:nvSpPr>
          <p:cNvPr id="8" name="Texto tarjeta"/>
          <p:cNvSpPr txBox="1"/>
          <p:nvPr/>
        </p:nvSpPr>
        <p:spPr>
          <a:xfrm>
            <a:off x="4654550" y="4572000"/>
            <a:ext cx="287655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No ampliar aún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Primero medir en el borde: no sabemos si el tráfico se desvía.</a:t>
            </a:r>
            <a:endParaRPr lang="en-US" sz="2400" dirty="0"/>
          </a:p>
        </p:txBody>
      </p:sp>
      <p:sp>
        <p:nvSpPr>
          <p:cNvPr id="9" name="Tarjeta"/>
          <p:cNvSpPr/>
          <p:nvPr/>
        </p:nvSpPr>
        <p:spPr>
          <a:xfrm>
            <a:off x="8039100" y="4381500"/>
            <a:ext cx="3384550" cy="1460500"/>
          </a:xfrm>
          <a:prstGeom prst="roundRect">
            <a:avLst>
              <a:gd name="adj" fmla="val 10643"/>
            </a:avLst>
          </a:prstGeom>
          <a:solidFill>
            <a:schemeClr val="bg2"/>
          </a:solidFill>
          <a:ln/>
        </p:spPr>
      </p:sp>
      <p:sp>
        <p:nvSpPr>
          <p:cNvPr id="10" name="Texto tarjeta"/>
          <p:cNvSpPr txBox="1"/>
          <p:nvPr/>
        </p:nvSpPr>
        <p:spPr>
          <a:xfrm>
            <a:off x="8293100" y="4572000"/>
            <a:ext cx="287655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Revisar cada año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fase 2 aún no se nota. El sistema lo recalcula solo.</a:t>
            </a:r>
            <a:endParaRPr lang="en-US" sz="2400" dirty="0"/>
          </a:p>
        </p:txBody>
      </p:sp>
      <p:sp>
        <p:nvSpPr>
          <p:cNvPr id="11" name="Pie"/>
          <p:cNvSpPr txBox="1"/>
          <p:nvPr/>
        </p:nvSpPr>
        <p:spPr>
          <a:xfrm>
            <a:off x="762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Límite: solo 2 estaciones dentro de la zona.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2413000"/>
            <a:ext cx="1066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0" b="1" dirty="0">
                <a:solidFill>
                  <a:schemeClr val="tx1"/>
                </a:solidFill>
              </a:rPr>
              <a:t>¿Preguntas?</a:t>
            </a:r>
            <a:endParaRPr lang="en-US" sz="75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38735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Iñigo · Kerman · Alfred — HaizeLab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izeLab">
  <a:themeElements>
    <a:clrScheme name="HaizeLab">
      <a:dk1>
        <a:srgbClr val="111827"/>
      </a:dk1>
      <a:lt1>
        <a:srgbClr val="FFFFFF"/>
      </a:lt1>
      <a:dk2>
        <a:srgbClr val="4B5563"/>
      </a:dk2>
      <a:lt2>
        <a:srgbClr val="F5F7FA"/>
      </a:lt2>
      <a:accent1>
        <a:srgbClr val="1D4ED8"/>
      </a:accent1>
      <a:accent2>
        <a:srgbClr val="E8833A"/>
      </a:accent2>
      <a:accent3>
        <a:srgbClr val="15803D"/>
      </a:accent3>
      <a:accent4>
        <a:srgbClr val="B45309"/>
      </a:accent4>
      <a:accent5>
        <a:srgbClr val="9CA3AF"/>
      </a:accent5>
      <a:accent6>
        <a:srgbClr val="E5E7EB"/>
      </a:accent6>
      <a:hlink>
        <a:srgbClr val="1D4ED8"/>
      </a:hlink>
      <a:folHlink>
        <a:srgbClr val="4B5563"/>
      </a:folHlink>
    </a:clrScheme>
    <a:fontScheme name="Haize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HaizeLab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¿Funciona la Zona de Bajas Emisiones de Bilbao?</dc:title>
  <dc:subject>PptxGenJS Presentation</dc:subject>
  <dc:creator>Iñigo, Kerman y Alfred · HaizeLab</dc:creator>
  <cp:lastModifiedBy>Iñigo, Kerman y Alfred · HaizeLab</cp:lastModifiedBy>
  <cp:revision>1</cp:revision>
  <dcterms:created xsi:type="dcterms:W3CDTF">2026-10-21T22:02:34Z</dcterms:created>
  <dcterms:modified xsi:type="dcterms:W3CDTF">2026-10-21T22:02:34Z</dcterms:modified>
</cp:coreProperties>
</file>